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05840"/>
            <a:ext cx="9448495" cy="4846320"/>
          </a:xfrm>
          <a:prstGeom prst="roundRect">
            <a:avLst/>
          </a:prstGeom>
          <a:solidFill>
            <a:srgbClr val="161E31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A78BFA"/>
                </a:solidFill>
              </a:defRPr>
            </a:pPr>
            <a:r>
              <a:t>JavaScript Quiz &amp; Assessment Portal</a:t>
            </a:r>
          </a:p>
          <a:p>
            <a:pPr algn="ctr">
              <a:defRPr sz="2200" b="1">
                <a:solidFill>
                  <a:srgbClr val="F8FAFC"/>
                </a:solidFill>
              </a:defRPr>
            </a:pPr>
            <a:r>
              <a:t>Formative Assessment - 2 (FA-2) Project Defense</a:t>
            </a:r>
          </a:p>
          <a:p>
            <a:br/>
            <a:pPr algn="ctr">
              <a:defRPr sz="1500">
                <a:solidFill>
                  <a:srgbClr val="38BDF8"/>
                </a:solidFill>
              </a:defRPr>
            </a:pPr>
            <a:r>
              <a:t>Course: Advanced Web Technologies (MCA)  |  Academic Year: 2026 - 2027</a:t>
            </a:r>
            <a:br/>
            <a:r>
              <a:t>Class &amp; Semester: SYMCA, Semester III</a:t>
            </a:r>
            <a:br/>
            <a:r>
              <a:t>Course Owner &amp; Evaluator: Dr. Avinash Chormale</a:t>
            </a:r>
          </a:p>
          <a:p>
            <a:br/>
            <a:pPr algn="ctr">
              <a:defRPr sz="1300">
                <a:solidFill>
                  <a:srgbClr val="94A3B8"/>
                </a:solidFill>
              </a:defRPr>
            </a:pPr>
            <a:r>
              <a:t>Core Stack: React 19 • Vite 8 • React Router v7 • Pure CSS3 Glassmorphism • RBAC Auth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solidFill>
            <a:srgbClr val="161E31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8FAFC"/>
                </a:solidFill>
              </a:defRPr>
            </a:pPr>
            <a:r>
              <a:t>1. Problem Statement &amp; Project Objectives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Engineering a dedicated assessment environment for real-world JavaScript &amp; React developers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A78BFA"/>
                </a:solidFill>
              </a:defRPr>
            </a:pPr>
            <a:r>
              <a:t>The Problem in Developer Assessments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Shallow Question Banks: </a:t>
            </a:r>
            <a:r>
              <a:rPr b="0">
                <a:solidFill>
                  <a:srgbClr val="F8FAFC"/>
                </a:solidFill>
              </a:rPr>
              <a:t>Traditional platforms test simple trivia rather than closures, event loop cycles, and React hooks.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No Instant Pedagogical Feedback: </a:t>
            </a:r>
            <a:r>
              <a:rPr b="0">
                <a:solidFill>
                  <a:srgbClr val="F8FAFC"/>
                </a:solidFill>
              </a:rPr>
              <a:t>Candidates are informed if an answer is wrong but rarely provided with immediate code rationale.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Lack of Administrative Control: </a:t>
            </a:r>
            <a:r>
              <a:rPr b="0">
                <a:solidFill>
                  <a:srgbClr val="F8FAFC"/>
                </a:solidFill>
              </a:rPr>
              <a:t>Standard mock tests do not offer instructors an administrative dashboard to manage question banks.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828800"/>
            <a:ext cx="512064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34D399"/>
                </a:solidFill>
              </a:defRPr>
            </a:pPr>
            <a:r>
              <a:t>Core Project Objectives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Real-time Timed Assessment Engine: </a:t>
            </a:r>
            <a:r>
              <a:rPr b="0">
                <a:solidFill>
                  <a:srgbClr val="F8FAFC"/>
                </a:solidFill>
              </a:rPr>
              <a:t>Execute timed evaluations with automated submission on timer expiry.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Explainable Feedback System: </a:t>
            </a:r>
            <a:r>
              <a:rPr b="0">
                <a:solidFill>
                  <a:srgbClr val="F8FAFC"/>
                </a:solidFill>
              </a:rPr>
              <a:t>Display immediate code explanations for why answers are correct or incorrect.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Gamified Developer Progression: </a:t>
            </a:r>
            <a:r>
              <a:rPr b="0">
                <a:solidFill>
                  <a:srgbClr val="F8FAFC"/>
                </a:solidFill>
              </a:rPr>
              <a:t>Drive engagement with automated XP rewards (10 XP/question) and rank levels.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Unified Role-Based Portals: </a:t>
            </a:r>
            <a:r>
              <a:rPr b="0">
                <a:solidFill>
                  <a:srgbClr val="F8FAFC"/>
                </a:solidFill>
              </a:rPr>
              <a:t>Provide separate workflows for candidate assessments and faculty CRUD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solidFill>
            <a:srgbClr val="161E31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8FAFC"/>
                </a:solidFill>
              </a:defRPr>
            </a:pPr>
            <a:r>
              <a:t>2. Phase-I (FA-1) Architectural Foundation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Key deliverables and frontend building blocks established in Phase-I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A78BFA"/>
                </a:solidFill>
              </a:defRPr>
            </a:pPr>
            <a:r>
              <a:t>FA-1 Milestones Delivered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Project Scaffolding: </a:t>
            </a:r>
            <a:r>
              <a:rPr b="0">
                <a:solidFill>
                  <a:srgbClr val="F8FAFC"/>
                </a:solidFill>
              </a:rPr>
              <a:t>Configured high-performance Vite tooling with zero build overhead and HMR.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UI/UX Design System: </a:t>
            </a:r>
            <a:r>
              <a:rPr b="0">
                <a:solidFill>
                  <a:srgbClr val="F8FAFC"/>
                </a:solidFill>
              </a:rPr>
              <a:t>Designed a custom dark glassmorphism theme using backdrop-filter and CSS variables.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Component Decomposition: </a:t>
            </a:r>
            <a:r>
              <a:rPr b="0">
                <a:solidFill>
                  <a:srgbClr val="F8FAFC"/>
                </a:solidFill>
              </a:rPr>
              <a:t>Built atomic components: navigation bars, quiz summary cards, and stats containers.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State &amp; Event Listeners: </a:t>
            </a:r>
            <a:r>
              <a:rPr b="0">
                <a:solidFill>
                  <a:srgbClr val="F8FAFC"/>
                </a:solidFill>
              </a:rPr>
              <a:t>Employed useState and controlled inputs for dynamic filtering and responsive UI updates.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828800"/>
            <a:ext cx="512064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34D399"/>
                </a:solidFill>
              </a:defRPr>
            </a:pPr>
            <a:r>
              <a:t>FA-1 Technical Outcomes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Zero CSS Framework Bloat: </a:t>
            </a:r>
            <a:r>
              <a:rPr b="0">
                <a:solidFill>
                  <a:srgbClr val="F8FAFC"/>
                </a:solidFill>
              </a:rPr>
              <a:t>Built from scratch without Tailwind or Bootstrap, guaranteeing minimal bundle size.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Modular File Hierarchy: </a:t>
            </a:r>
            <a:r>
              <a:rPr b="0">
                <a:solidFill>
                  <a:srgbClr val="F8FAFC"/>
                </a:solidFill>
              </a:rPr>
              <a:t>Separated concerns across components, pages, context, and mock services.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Responsive Layouts: </a:t>
            </a:r>
            <a:r>
              <a:rPr b="0">
                <a:solidFill>
                  <a:srgbClr val="F8FAFC"/>
                </a:solidFill>
              </a:rPr>
              <a:t>Implemented Flexbox and CSS Grid to support seamless mobile, tablet, and desktop views.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solidFill>
            <a:srgbClr val="161E31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8FAFC"/>
                </a:solidFill>
              </a:defRPr>
            </a:pPr>
            <a:r>
              <a:t>3. Phase-II (FA-2) Advancements &amp; Authentication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Elevating the project into a secure, full-capability application with user authentication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A78BFA"/>
                </a:solidFill>
              </a:defRPr>
            </a:pPr>
            <a:r>
              <a:t>Authentication Architecture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Multi-User Support: </a:t>
            </a:r>
            <a:r>
              <a:rPr b="0">
                <a:solidFill>
                  <a:srgbClr val="F8FAFC"/>
                </a:solidFill>
              </a:rPr>
              <a:t>Stores registered users, active sessions, and credential verification via localStorage.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Sign In &amp; Sign Up Views: </a:t>
            </a:r>
            <a:r>
              <a:rPr b="0">
                <a:solidFill>
                  <a:srgbClr val="F8FAFC"/>
                </a:solidFill>
              </a:rPr>
              <a:t>Dedicated /login and /register interfaces with input validation and password confirmation.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Pre-Seeded Demo Accounts: </a:t>
            </a:r>
            <a:r>
              <a:rPr b="0">
                <a:solidFill>
                  <a:srgbClr val="F8FAFC"/>
                </a:solidFill>
              </a:rPr>
              <a:t>Includes one-click demo credentials for Student and Faculty evaluator convenience.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Session State Synchronization: </a:t>
            </a:r>
            <a:r>
              <a:rPr b="0">
                <a:solidFill>
                  <a:srgbClr val="F8FAFC"/>
                </a:solidFill>
              </a:rPr>
              <a:t>Active session persists seamlessly across page reloads and browser restarts.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828800"/>
            <a:ext cx="512064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34D399"/>
                </a:solidFill>
              </a:defRPr>
            </a:pPr>
            <a:r>
              <a:t>Role-Based Access Control (RBAC)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Candidate / Student Role: </a:t>
            </a:r>
            <a:r>
              <a:rPr b="0">
                <a:solidFill>
                  <a:srgbClr val="F8FAFC"/>
                </a:solidFill>
              </a:rPr>
              <a:t>Can take assessments, earn XP, unlock developer ranks, and view attempt history.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Faculty / Admin Role: </a:t>
            </a:r>
            <a:r>
              <a:rPr b="0">
                <a:solidFill>
                  <a:srgbClr val="F8FAFC"/>
                </a:solidFill>
              </a:rPr>
              <a:t>Full access to the Admin Portal (/admin) for CRUD operations and test suite authoring.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Role Badges &amp; User Status: </a:t>
            </a:r>
            <a:r>
              <a:rPr b="0">
                <a:solidFill>
                  <a:srgbClr val="F8FAFC"/>
                </a:solidFill>
              </a:rPr>
              <a:t>Distinct visual indicators in the navbar and dashboard to distinguish roles at a glance.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solidFill>
            <a:srgbClr val="161E31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8FAFC"/>
                </a:solidFill>
              </a:defRPr>
            </a:pPr>
            <a:r>
              <a:t>4. Security Architecture &amp; Route Protection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Defending assessment workflows and administrative workbenches from unauthorized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A78BFA"/>
                </a:solidFill>
              </a:defRPr>
            </a:pPr>
            <a:r>
              <a:t>ProtectedRoute Component Implementation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Authentication Verification: </a:t>
            </a:r>
            <a:r>
              <a:rPr b="0">
                <a:solidFill>
                  <a:srgbClr val="F8FAFC"/>
                </a:solidFill>
              </a:rPr>
              <a:t>Intercepts route requests and verifies active session. Unauthenticated users are redirected to /login with original location state preserved for post-login return.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Granular Role Verification (requireAdmin): </a:t>
            </a:r>
            <a:r>
              <a:rPr b="0">
                <a:solidFill>
                  <a:srgbClr val="F8FAFC"/>
                </a:solidFill>
              </a:rPr>
              <a:t>Guards /admin routes. Non-admin users are blocked and presented with a clear 'Administrator Access Required' access-denied view.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SPA Client-Side Route Safety: </a:t>
            </a:r>
            <a:r>
              <a:rPr b="0">
                <a:solidFill>
                  <a:srgbClr val="F8FAFC"/>
                </a:solidFill>
              </a:rPr>
              <a:t>Integrated vercel.json and _redirects rules to ensure bookmarking and direct URL refreshes work seamlessly without 404 errors.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Session Termination &amp; Logout: </a:t>
            </a:r>
            <a:r>
              <a:rPr b="0">
                <a:solidFill>
                  <a:srgbClr val="F8FAFC"/>
                </a:solidFill>
              </a:rPr>
              <a:t>Single-click logout cleans session state immediately and redirects users safely to the authentication screen.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solidFill>
            <a:srgbClr val="161E31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8FAFC"/>
                </a:solidFill>
              </a:defRPr>
            </a:pPr>
            <a:r>
              <a:t>5. System Architecture &amp; State Management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Decoupled SPA design utilizing React Context API and simulated async persistence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A78BFA"/>
                </a:solidFill>
              </a:defRPr>
            </a:pPr>
            <a:r>
              <a:t>Global Context (QuizContext.jsx)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Single Source of Truth: </a:t>
            </a:r>
            <a:r>
              <a:rPr b="0">
                <a:solidFill>
                  <a:srgbClr val="F8FAFC"/>
                </a:solidFill>
              </a:rPr>
              <a:t>Centralizes authentication state, user stats, question banks, and assessment history.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No Prop Drilling: </a:t>
            </a:r>
            <a:r>
              <a:rPr b="0">
                <a:solidFill>
                  <a:srgbClr val="F8FAFC"/>
                </a:solidFill>
              </a:rPr>
              <a:t>Provides custom hook useQuiz() accessible across all pages and deep components.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Dynamic Re-rendering: </a:t>
            </a:r>
            <a:r>
              <a:rPr b="0">
                <a:solidFill>
                  <a:srgbClr val="F8FAFC"/>
                </a:solidFill>
              </a:rPr>
              <a:t>Updates XP, Level progression, and score records instantly upon assessment completion.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828800"/>
            <a:ext cx="512064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34D399"/>
                </a:solidFill>
              </a:defRPr>
            </a:pPr>
            <a:r>
              <a:t>Simulated Service Layer (api.js)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Async/Await Promises: </a:t>
            </a:r>
            <a:r>
              <a:rPr b="0">
                <a:solidFill>
                  <a:srgbClr val="F8FAFC"/>
                </a:solidFill>
              </a:rPr>
              <a:t>Simulates realistic REST API delays (250-300ms) to model real-world client-server architectures.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LocalStorage Persistence: </a:t>
            </a:r>
            <a:r>
              <a:rPr b="0">
                <a:solidFill>
                  <a:srgbClr val="F8FAFC"/>
                </a:solidFill>
              </a:rPr>
              <a:t>Saves quizzes, users, and attempt records reliably across browser sessions.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Plug-and-Play Swapping: </a:t>
            </a:r>
            <a:r>
              <a:rPr b="0">
                <a:solidFill>
                  <a:srgbClr val="F8FAFC"/>
                </a:solidFill>
              </a:rPr>
              <a:t>Can easily be swapped with real Axios or Fetch endpoints without modifying UI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solidFill>
            <a:srgbClr val="161E31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8FAFC"/>
                </a:solidFill>
              </a:defRPr>
            </a:pPr>
            <a:r>
              <a:t>6. Timed Assessment Engine &amp; Gamification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Custom timer hook, instant code pedagogy, and automated XP leveling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A78BFA"/>
                </a:solidFill>
              </a:defRPr>
            </a:pPr>
            <a:r>
              <a:t>Custom Timer Hook (useTimer.js)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Accurate Interval Countdown: </a:t>
            </a:r>
            <a:r>
              <a:rPr b="0">
                <a:solidFill>
                  <a:srgbClr val="F8FAFC"/>
                </a:solidFill>
              </a:rPr>
              <a:t>Encapsulates useEffect and useRef to guarantee consistent countdown execution.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Automatic Submission: </a:t>
            </a:r>
            <a:r>
              <a:rPr b="0">
                <a:solidFill>
                  <a:srgbClr val="F8FAFC"/>
                </a:solidFill>
              </a:rPr>
              <a:t>Triggers automated completion callback when timeLeft === 0, preventing expired attempts.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Formatted Display: </a:t>
            </a:r>
            <a:r>
              <a:rPr b="0">
                <a:solidFill>
                  <a:srgbClr val="F8FAFC"/>
                </a:solidFill>
              </a:rPr>
              <a:t>Converts raw seconds into clean MM:SS readouts with color-coded warning states.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828800"/>
            <a:ext cx="512064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34D399"/>
                </a:solidFill>
              </a:defRPr>
            </a:pPr>
            <a:r>
              <a:t>Gamification Dynamics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XP Rewards: </a:t>
            </a:r>
            <a:r>
              <a:rPr b="0">
                <a:solidFill>
                  <a:srgbClr val="F8FAFC"/>
                </a:solidFill>
              </a:rPr>
              <a:t>Awards 10 XP per correct answer upon test submission.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Level Formula: </a:t>
            </a:r>
            <a:r>
              <a:rPr b="0">
                <a:solidFill>
                  <a:srgbClr val="F8FAFC"/>
                </a:solidFill>
              </a:rPr>
              <a:t>Automated advancement: Level = floor(XP / 100) + 1.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Instant Pedagogical Feedback: </a:t>
            </a:r>
            <a:r>
              <a:rPr b="0">
                <a:solidFill>
                  <a:srgbClr val="F8FAFC"/>
                </a:solidFill>
              </a:rPr>
              <a:t>Highlights correct/incorrect selections with code explanations immediately on confirmation.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solidFill>
            <a:srgbClr val="161E31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8FAFC"/>
                </a:solidFill>
              </a:defRPr>
            </a:pPr>
            <a:r>
              <a:t>7. Admin CRUD Portal &amp; Form Validation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Comprehensive question bank management with rigorous client-side input validations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A78BFA"/>
                </a:solidFill>
              </a:defRPr>
            </a:pPr>
            <a:r>
              <a:t>Admin CRUD Features (/admin)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Create Quiz: </a:t>
            </a:r>
            <a:r>
              <a:rPr b="0">
                <a:solidFill>
                  <a:srgbClr val="F8FAFC"/>
                </a:solidFill>
              </a:rPr>
              <a:t>Initiate new assessment sets with custom category, difficulty, and time limits.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Read Questions: </a:t>
            </a:r>
            <a:r>
              <a:rPr b="0">
                <a:solidFill>
                  <a:srgbClr val="F8FAFC"/>
                </a:solidFill>
              </a:rPr>
              <a:t>Visualize question trees, answer keys, and options in a clean interactive view.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Update Question: </a:t>
            </a:r>
            <a:r>
              <a:rPr b="0">
                <a:solidFill>
                  <a:srgbClr val="F8FAFC"/>
                </a:solidFill>
              </a:rPr>
              <a:t>Modifies question text, option choices, and explanations in-place.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Delete Operations: </a:t>
            </a:r>
            <a:r>
              <a:rPr b="0">
                <a:solidFill>
                  <a:srgbClr val="F8FAFC"/>
                </a:solidFill>
              </a:rPr>
              <a:t>Remove obsolete questions or entire quiz collections with confirmation safeguards.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828800"/>
            <a:ext cx="5120640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34D399"/>
                </a:solidFill>
              </a:defRPr>
            </a:pPr>
            <a:r>
              <a:t>Form Field Validation Rules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Non-Empty Fields: </a:t>
            </a:r>
            <a:r>
              <a:rPr b="0">
                <a:solidFill>
                  <a:srgbClr val="F8FAFC"/>
                </a:solidFill>
              </a:rPr>
              <a:t>Enforces non-blank question text and explanations.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Option Boundary Check: </a:t>
            </a:r>
            <a:r>
              <a:rPr b="0">
                <a:solidFill>
                  <a:srgbClr val="F8FAFC"/>
                </a:solidFill>
              </a:rPr>
              <a:t>Requires at least 2 non-empty option strings.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Correct Option Guard: </a:t>
            </a:r>
            <a:r>
              <a:rPr b="0">
                <a:solidFill>
                  <a:srgbClr val="F8FAFC"/>
                </a:solidFill>
              </a:rPr>
              <a:t>Validates that the selected correct answer index aligns with valid option bounds.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Sanitized Submissions: </a:t>
            </a:r>
            <a:r>
              <a:rPr b="0">
                <a:solidFill>
                  <a:srgbClr val="F8FAFC"/>
                </a:solidFill>
              </a:rPr>
              <a:t>Trims whitespace to protect dataset integrity.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solidFill>
            <a:srgbClr val="161E31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8FAFC"/>
                </a:solidFill>
              </a:defRPr>
            </a:pPr>
            <a:r>
              <a:t>8. Verification, Testing &amp; Build Metrics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Production-grade bundling, automated linting, and build optimization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A78BFA"/>
                </a:solidFill>
              </a:defRPr>
            </a:pPr>
            <a:r>
              <a:t>Production Build &amp; Quality Assurance Results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Build Execution (Vite Rollup): </a:t>
            </a:r>
            <a:r>
              <a:rPr b="0">
                <a:solidFill>
                  <a:srgbClr val="F8FAFC"/>
                </a:solidFill>
              </a:rPr>
              <a:t>Compiled 1,836 modules into optimized chunks in ~500ms with zero errors or warnings.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Asset Minification: </a:t>
            </a:r>
            <a:r>
              <a:rPr b="0">
                <a:solidFill>
                  <a:srgbClr val="F8FAFC"/>
                </a:solidFill>
              </a:rPr>
              <a:t>Generated lightweight production bundles: index.html (0.45 kB), CSS (9.67 kB), and JS chunks (gzip ~87 kB).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Static Code Analysis (Oxlint): </a:t>
            </a:r>
            <a:r>
              <a:rPr b="0">
                <a:solidFill>
                  <a:srgbClr val="F8FAFC"/>
                </a:solidFill>
              </a:rPr>
              <a:t>Scanned all source code modules with 104 rules; clean passes on unused variables and lifecycle checks.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Deployment Readiness: </a:t>
            </a:r>
            <a:r>
              <a:rPr b="0">
                <a:solidFill>
                  <a:srgbClr val="F8FAFC"/>
                </a:solidFill>
              </a:rPr>
              <a:t>Equipped with SPA fallback routing configurations ready for single-click deployment on Vercel or Netlify.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solidFill>
            <a:srgbClr val="161E31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8FAFC"/>
                </a:solidFill>
              </a:defRPr>
            </a:pPr>
            <a:r>
              <a:t>9. Conclusion, Deployment Links &amp; Defense Q&amp;A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Ready for university evaluation and viva examination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480560"/>
          </a:xfrm>
          <a:prstGeom prst="roundRect">
            <a:avLst/>
          </a:prstGeom>
          <a:solidFill>
            <a:srgbClr val="161E3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34D399"/>
                </a:solidFill>
              </a:defRPr>
            </a:pPr>
            <a:r>
              <a:t>Project Links &amp; Evaluation Deliverables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GitHub Repository: </a:t>
            </a:r>
            <a:r>
              <a:rPr b="0">
                <a:solidFill>
                  <a:srgbClr val="F8FAFC"/>
                </a:solidFill>
              </a:rPr>
              <a:t>[To be added: https://github.com/your-username/quiz]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Live Deployed Application: </a:t>
            </a:r>
            <a:r>
              <a:rPr b="0">
                <a:solidFill>
                  <a:srgbClr val="F8FAFC"/>
                </a:solidFill>
              </a:rPr>
              <a:t>[To be added: https://your-quiz-app.vercel.app]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One-Click Student Demo: </a:t>
            </a:r>
            <a:r>
              <a:rPr b="0">
                <a:solidFill>
                  <a:srgbClr val="F8FAFC"/>
                </a:solidFill>
              </a:rPr>
              <a:t>student@quiz.com / student123 (Experience candidate test taking, timer, and XP progression)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One-Click Admin Demo: </a:t>
            </a:r>
            <a:r>
              <a:rPr b="0">
                <a:solidFill>
                  <a:srgbClr val="F8FAFC"/>
                </a:solidFill>
              </a:rPr>
              <a:t>admin@quiz.com / admin123 (Experience faculty quiz administration &amp; CRUD modifications)</a:t>
            </a:r>
          </a:p>
          <a:p>
            <a:pPr>
              <a:defRPr sz="600"/>
            </a:pPr>
          </a:p>
          <a:p>
            <a:pPr>
              <a:defRPr b="1" sz="1500">
                <a:solidFill>
                  <a:srgbClr val="38BDF8"/>
                </a:solidFill>
              </a:defRPr>
            </a:pPr>
            <a:r>
              <a:t>• Future Enhancements: </a:t>
            </a:r>
            <a:r>
              <a:rPr b="0">
                <a:solidFill>
                  <a:srgbClr val="F8FAFC"/>
                </a:solidFill>
              </a:rPr>
              <a:t>Monaco Code Editor integration for live code challenges, WebSocket-based multiplayer rooms.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